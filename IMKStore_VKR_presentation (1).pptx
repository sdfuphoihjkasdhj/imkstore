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961120" y="-1188720"/>
            <a:ext cx="3840480" cy="38404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411480"/>
            <a:ext cx="676656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ДЕПАРТАМЕНТ ОБРАЗОВАНИЯ ЯНАО
ГБПОУ ЯНАО «Ямальский многопрофильный колледж»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53035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E40AF"/>
                </a:solidFill>
                <a:latin typeface="Arial"/>
              </a:rPr>
              <a:t>Выпускная квалификационная работа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74519"/>
            <a:ext cx="978408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Arial"/>
              </a:rPr>
              <a:t>Разработка информационной системы
для интернет-магазина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52928"/>
            <a:ext cx="566928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2563EB"/>
                </a:solidFill>
                <a:latin typeface="Arial"/>
              </a:rPr>
              <a:t>IMKStore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913632"/>
            <a:ext cx="5989320" cy="12984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2104" y="4050792"/>
            <a:ext cx="64008" cy="1024127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4078224"/>
            <a:ext cx="55504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72A"/>
                </a:solidFill>
                <a:latin typeface="Arial"/>
              </a:rPr>
              <a:t>Выполнил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480560"/>
            <a:ext cx="5550408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Агаев Самир Джаванширович
студент группы 22ИСиП, 09.02.07 «Информационные системы и программирование»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3913632"/>
            <a:ext cx="4407408" cy="129844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086600" y="4050792"/>
            <a:ext cx="64008" cy="1024127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78624" y="4078224"/>
            <a:ext cx="39684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72A"/>
                </a:solidFill>
                <a:latin typeface="Arial"/>
              </a:rPr>
              <a:t>Руководитель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8624" y="4480560"/>
            <a:ext cx="3968496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Еросланова Р.И.
преподаватель высшей квалификационной категории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199632"/>
            <a:ext cx="20116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Салехард,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199632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Актуальность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6984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4748B"/>
                </a:solidFill>
                <a:latin typeface="Arial"/>
              </a:rPr>
              <a:t>Интернет-магазин — удобная предметная область для демонстрации полного цикла разработки информационной системы.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4884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286000"/>
            <a:ext cx="6400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313432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Рост электронной коммерции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715768"/>
            <a:ext cx="4636008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4748B"/>
                </a:solidFill>
                <a:latin typeface="Arial"/>
              </a:rPr>
              <a:t>Пользователь ожидает быстрый путь: товар → корзина → заказ → статус.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18504" y="2286000"/>
            <a:ext cx="6400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313432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Связь интерфейса и БД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715768"/>
            <a:ext cx="4636008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4748B"/>
                </a:solidFill>
                <a:latin typeface="Arial"/>
              </a:rPr>
              <a:t>Важно показать, как действие на странице превращается в запись и изменение данных.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4114800"/>
            <a:ext cx="6400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142231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Роли доступа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544568"/>
            <a:ext cx="4636008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4748B"/>
                </a:solidFill>
                <a:latin typeface="Arial"/>
              </a:rPr>
              <a:t>Система разделяет действия гостя, покупателя, продавца и администратора.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977639"/>
            <a:ext cx="50749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18504" y="4114800"/>
            <a:ext cx="64008" cy="960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4142231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Учебная ценность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4544568"/>
            <a:ext cx="4636008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64748B"/>
                </a:solidFill>
                <a:latin typeface="Arial"/>
              </a:rPr>
              <a:t>Проект объединяет Flask, Peewee, MySQL, UML, интерфейс и тестирование.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687568"/>
            <a:ext cx="1417320" cy="31089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5728716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D9488"/>
                </a:solidFill>
                <a:latin typeface="Arial"/>
              </a:rPr>
              <a:t>Ключевая идея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669280"/>
            <a:ext cx="877824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0F172A"/>
                </a:solidFill>
                <a:latin typeface="Arial"/>
              </a:rPr>
              <a:t>IMKStore показывает не отдельную страницу, а последовательную работу системы от просмотра товара до завершения заказа.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Объект, предмет, цель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36192"/>
            <a:ext cx="356616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673351"/>
            <a:ext cx="64008" cy="31272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700784"/>
            <a:ext cx="312724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Объект исследования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03120"/>
            <a:ext cx="3127248" cy="2743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процесс онлайн-покупки и продажи товаров в веб-сервисе с различными ролями пользователей.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536192"/>
            <a:ext cx="3566160" cy="3401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80" y="1673351"/>
            <a:ext cx="64008" cy="31272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18304" y="1700784"/>
            <a:ext cx="312724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0F172A"/>
                </a:solidFill>
                <a:latin typeface="Arial"/>
              </a:rPr>
              <a:t>Предмет исследования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103120"/>
            <a:ext cx="3127248" cy="2743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методы и средства разработки информационной системы интернет-магазина на Flask, Peewee и MySQL.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536192"/>
            <a:ext cx="3383280" cy="34015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1700784"/>
            <a:ext cx="30540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E40AF"/>
                </a:solidFill>
                <a:latin typeface="Arial"/>
              </a:rPr>
              <a:t>Цель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103120"/>
            <a:ext cx="3054096" cy="2743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разработать IMKStore с каталогом, корзиной, быстрой покупкой, заказами, отзывами и возвратами.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504688"/>
            <a:ext cx="12801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545836"/>
            <a:ext cx="12801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Каталог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0008" y="5541264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60904" y="5504688"/>
            <a:ext cx="214884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0904" y="5545836"/>
            <a:ext cx="21488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Корзина / Купить сейчас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5541264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5504688"/>
            <a:ext cx="114300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30368" y="5545836"/>
            <a:ext cx="11430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Заказ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3096" y="5541264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93992" y="5504688"/>
            <a:ext cx="141732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93992" y="5545836"/>
            <a:ext cx="14173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Получение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541264"/>
            <a:ext cx="1828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31936" y="5504688"/>
            <a:ext cx="1874519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31936" y="5545836"/>
            <a:ext cx="1874519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Отзыв / Возврат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Гипотеза, методы и база исследования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08760"/>
            <a:ext cx="5532120" cy="182880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673351"/>
            <a:ext cx="52029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E40AF"/>
                </a:solidFill>
                <a:latin typeface="Arial"/>
              </a:rPr>
              <a:t>Гипотеза исследования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075688"/>
            <a:ext cx="5202936" cy="1170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использование архитектуры MVC и ORM Peewee позволит создать структурированное приложение, которое легко сопровождать и расширять.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508760"/>
            <a:ext cx="507492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65392" y="1645919"/>
            <a:ext cx="64008" cy="1554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7416" y="1673351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Методы исследования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2084831"/>
            <a:ext cx="1952243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2125979"/>
            <a:ext cx="1952243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анализ требований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46820" y="2084831"/>
            <a:ext cx="73152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46820" y="2125979"/>
            <a:ext cx="731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ООП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8068" y="2084831"/>
            <a:ext cx="73152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88068" y="2125979"/>
            <a:ext cx="731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UML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84848" y="2523744"/>
            <a:ext cx="1952243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2564891"/>
            <a:ext cx="1952243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проектирование БД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46820" y="2523744"/>
            <a:ext cx="1856231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46820" y="2564891"/>
            <a:ext cx="185623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прототипирование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2962656"/>
            <a:ext cx="1856231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84848" y="3003803"/>
            <a:ext cx="185623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программирование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50808" y="2962656"/>
            <a:ext cx="1472184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750808" y="3003803"/>
            <a:ext cx="147218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тестирование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886200"/>
            <a:ext cx="10863072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7240" y="4023360"/>
            <a:ext cx="64008" cy="1143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9264" y="4050791"/>
            <a:ext cx="1042416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База исследования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4453128"/>
            <a:ext cx="10424160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персональный компьютер, локальная среда разработки Python, сервер MySQL, XAMPP/phpMyAdmin и тестовые данные в базе.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3552" y="5650992"/>
            <a:ext cx="1780032" cy="768096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38144" y="5815583"/>
            <a:ext cx="145084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40AF"/>
                </a:solidFill>
                <a:latin typeface="Arial"/>
              </a:rPr>
              <a:t>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38144" y="6217920"/>
            <a:ext cx="1450847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данные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90160" y="5879592"/>
            <a:ext cx="91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8176" y="5650992"/>
            <a:ext cx="1780032" cy="7680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82768" y="5815583"/>
            <a:ext cx="145084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D9488"/>
                </a:solidFill>
                <a:latin typeface="Arial"/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2768" y="6217920"/>
            <a:ext cx="1450847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логика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34784" y="5879592"/>
            <a:ext cx="91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62800" y="5650992"/>
            <a:ext cx="1780032" cy="7680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27392" y="5815583"/>
            <a:ext cx="145084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72A"/>
                </a:solidFill>
                <a:latin typeface="Arial"/>
              </a:rPr>
              <a:t>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27392" y="6217920"/>
            <a:ext cx="1450847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интерфейс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321040" y="-914400"/>
            <a:ext cx="4297680" cy="42976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212080"/>
            <a:ext cx="2377440" cy="23774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37392" y="6199632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234440"/>
            <a:ext cx="365760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BFDBFE"/>
                </a:solidFill>
                <a:latin typeface="Arial"/>
              </a:rPr>
              <a:t>ГЛАВА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755648"/>
            <a:ext cx="80467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rial"/>
              </a:rPr>
              <a:t>Теоретическая часть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832104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E2E8F0"/>
                </a:solidFill>
                <a:latin typeface="Arial"/>
              </a:rPr>
              <a:t>В первой главе раскрыты основы построения информационной системы, предметная область интернет-магазина, этапы создания АИС и принципы интерфейса.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4251960"/>
            <a:ext cx="3154680" cy="11430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4416552"/>
            <a:ext cx="28254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ИС и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818888"/>
            <a:ext cx="2825496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сущности, связи, состояния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8264" y="4251960"/>
            <a:ext cx="3154680" cy="11430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4416552"/>
            <a:ext cx="28254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MVC + 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4818888"/>
            <a:ext cx="2825496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структура приложения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4251960"/>
            <a:ext cx="3154680" cy="1143000"/>
          </a:xfrm>
          <a:prstGeom prst="roundRect">
            <a:avLst/>
          </a:prstGeom>
          <a:solidFill>
            <a:srgbClr val="1E293B"/>
          </a:solidFill>
          <a:ln w="101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4416552"/>
            <a:ext cx="282549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Роли и сценарии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4818888"/>
            <a:ext cx="2825496" cy="4846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CBD5E1"/>
                </a:solidFill>
                <a:latin typeface="Arial"/>
              </a:rPr>
              <a:t>ограничения доступа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932688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93268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Предметная область и роли IMKStore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572768"/>
            <a:ext cx="3474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1709928"/>
            <a:ext cx="64008" cy="59435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1737360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Гость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2139696"/>
            <a:ext cx="3035808" cy="2103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просмотр каталога и карточки товара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78608"/>
            <a:ext cx="3474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2715768"/>
            <a:ext cx="64008" cy="59435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2743200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Покупатель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145536"/>
            <a:ext cx="3035808" cy="2103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корзина, заказ, получение, отзыв, возврат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84448"/>
            <a:ext cx="3474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721608"/>
            <a:ext cx="64008" cy="59435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" y="3749040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Продавец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151376"/>
            <a:ext cx="3035808" cy="2103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товары, продажи, обработка возвратов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474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77240" y="4727448"/>
            <a:ext cx="64008" cy="59435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" y="4754880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Администратор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157216"/>
            <a:ext cx="3035808" cy="21031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пользователи, категории, баланс, заказы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1481328"/>
            <a:ext cx="690372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276" y="1481328"/>
            <a:ext cx="6768846" cy="45262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434840" y="6080760"/>
            <a:ext cx="69037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Диаграмма вариантов использования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932688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93268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Теоретическая логика создания АИС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1024128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Работа строится как полный цикл: от требований и моделей до реализации, проверки и развития системы.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2157984"/>
            <a:ext cx="1645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316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40A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31673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172A"/>
                </a:solidFill>
                <a:latin typeface="Arial"/>
              </a:rPr>
              <a:t>Постановка
задачи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50592" y="2468879"/>
            <a:ext cx="137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3472" y="2157984"/>
            <a:ext cx="1645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8064" y="2322576"/>
            <a:ext cx="1316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40A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2724912"/>
            <a:ext cx="131673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172A"/>
                </a:solidFill>
                <a:latin typeface="Arial"/>
              </a:rPr>
              <a:t>Сбор
требований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2468879"/>
            <a:ext cx="137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17136" y="2157984"/>
            <a:ext cx="1645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1727" y="2322576"/>
            <a:ext cx="1316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40A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7" y="2724912"/>
            <a:ext cx="131673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172A"/>
                </a:solidFill>
                <a:latin typeface="Arial"/>
              </a:rPr>
              <a:t>Проектирование
UML и БД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2468879"/>
            <a:ext cx="137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157984"/>
            <a:ext cx="1645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2322576"/>
            <a:ext cx="1316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40A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724912"/>
            <a:ext cx="131673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172A"/>
                </a:solidFill>
                <a:latin typeface="Arial"/>
              </a:rPr>
              <a:t>Реализация
модулей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4" y="2468879"/>
            <a:ext cx="137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4464" y="2157984"/>
            <a:ext cx="1645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49056" y="2322576"/>
            <a:ext cx="1316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40AF"/>
                </a:solidFill>
                <a:latin typeface="Arial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724912"/>
            <a:ext cx="131673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172A"/>
                </a:solidFill>
                <a:latin typeface="Arial"/>
              </a:rPr>
              <a:t>Тестирование
сценариев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2468879"/>
            <a:ext cx="1371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2157984"/>
            <a:ext cx="164592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32720" y="2322576"/>
            <a:ext cx="1316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E40AF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724912"/>
            <a:ext cx="131673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F172A"/>
                </a:solidFill>
                <a:latin typeface="Arial"/>
              </a:rPr>
              <a:t>Развитие
проекта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" y="3977639"/>
            <a:ext cx="5303520" cy="144475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142231"/>
            <a:ext cx="49743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E40AF"/>
                </a:solidFill>
                <a:latin typeface="Arial"/>
              </a:rPr>
              <a:t>Принципы интерфейса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44568"/>
            <a:ext cx="4974336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172A"/>
                </a:solidFill>
                <a:latin typeface="Arial"/>
              </a:rPr>
              <a:t>белая тема, понятная навигация, действия зависят от роли и статуса заказа.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3977639"/>
            <a:ext cx="5074920" cy="1444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428232" y="4114800"/>
            <a:ext cx="64008" cy="11704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20256" y="4142231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Контроль доступа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0256" y="4544568"/>
            <a:ext cx="4636008" cy="7863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кнопка в интерфейсе не заменяет проверку в контроллере: закрытые действия защищены на уровне маршрутов.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Практика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ГЛАВА II. Практическая часть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26464"/>
            <a:ext cx="10241280" cy="2625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dirty="0" err="1">
                <a:solidFill>
                  <a:srgbClr val="64748B"/>
                </a:solidFill>
                <a:latin typeface="Arial"/>
              </a:rPr>
              <a:t>Техническое</a:t>
            </a:r>
            <a:r>
              <a:rPr sz="15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Arial"/>
              </a:rPr>
              <a:t>задание</a:t>
            </a:r>
            <a:r>
              <a:rPr sz="15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Arial"/>
              </a:rPr>
              <a:t>определяет</a:t>
            </a:r>
            <a:r>
              <a:rPr sz="15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Arial"/>
              </a:rPr>
              <a:t>рабочи</a:t>
            </a:r>
            <a:r>
              <a:rPr lang="ru-RU" sz="1500" b="0" dirty="0">
                <a:solidFill>
                  <a:srgbClr val="64748B"/>
                </a:solidFill>
                <a:latin typeface="Arial"/>
              </a:rPr>
              <a:t>ю информационную систему</a:t>
            </a:r>
            <a:r>
              <a:rPr sz="15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Arial"/>
              </a:rPr>
              <a:t>интернет-магазина</a:t>
            </a:r>
            <a:r>
              <a:rPr sz="1500" b="0" dirty="0">
                <a:solidFill>
                  <a:srgbClr val="64748B"/>
                </a:solidFill>
                <a:latin typeface="Arial"/>
              </a:rPr>
              <a:t> IMKStore.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29968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167128"/>
            <a:ext cx="64008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194560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Роли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596896"/>
            <a:ext cx="4636008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гость, покупатель, продавец, администратор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029968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18504" y="2167128"/>
            <a:ext cx="64008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8" y="2194560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Функции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596896"/>
            <a:ext cx="4636008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каталог, карточка товара, корзина, заказ, отзывы, возвраты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67328"/>
            <a:ext cx="5074920" cy="132588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931920"/>
            <a:ext cx="474573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E40AF"/>
                </a:solidFill>
                <a:latin typeface="Arial"/>
              </a:rPr>
              <a:t>Стек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334256"/>
            <a:ext cx="4745736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0F172A"/>
                </a:solidFill>
                <a:latin typeface="Arial"/>
              </a:rPr>
              <a:t>Python, Flask, Peewee, MySQL, HTML/CSS, XAMPP/phpMyAdmin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67328"/>
            <a:ext cx="50749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18504" y="3904488"/>
            <a:ext cx="64008" cy="1051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931920"/>
            <a:ext cx="46360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0F172A"/>
                </a:solidFill>
                <a:latin typeface="Arial"/>
              </a:rPr>
              <a:t>Упрощения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334256"/>
            <a:ext cx="4636008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внутренний баланс, один пункт выдачи, готовность заказа через 5 минут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5705856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5747004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Flask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5705856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20640" y="5747004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Peewee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59" y="5705856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59" y="5747004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MySQL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79" y="5705856"/>
            <a:ext cx="8686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79" y="5747004"/>
            <a:ext cx="868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Jinja2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5705856"/>
            <a:ext cx="777240" cy="31089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1000" y="5747004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D9488"/>
                </a:solidFill>
                <a:latin typeface="Arial"/>
              </a:rPr>
              <a:t>MVC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UML-моделирование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Сценарий «Купить сейчас» показывает, как запрос проходит через контроллер, БД и уведомления.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82880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88236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Проверка товара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847088"/>
            <a:ext cx="1929384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1888236"/>
            <a:ext cx="192938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Проверка баланса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45736" y="1847088"/>
            <a:ext cx="2029968" cy="310896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45736" y="1888236"/>
            <a:ext cx="202996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D9488"/>
                </a:solidFill>
                <a:latin typeface="Arial"/>
              </a:rPr>
              <a:t>Транзакция заказа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0296" y="1847088"/>
            <a:ext cx="233172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0296" y="1888236"/>
            <a:ext cx="23317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Уведомление продавцу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2331720"/>
            <a:ext cx="10789920" cy="35021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180" y="2331720"/>
            <a:ext cx="6166022" cy="35021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3232" y="5907024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Диаграмма последовательности: сценарий «Купить сейчас»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Проектирование базы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Реляционная структура связывает пользователей, товары, заказы, отзывы и возвраты в единую модель данных.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8686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888236"/>
            <a:ext cx="868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36775" y="1847088"/>
            <a:ext cx="1024128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6775" y="1888236"/>
            <a:ext cx="1024128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1847088"/>
            <a:ext cx="86868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0632" y="1888236"/>
            <a:ext cx="8686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1847088"/>
            <a:ext cx="1271016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888236"/>
            <a:ext cx="1271016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order_items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3" y="1847088"/>
            <a:ext cx="941832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9783" y="1888236"/>
            <a:ext cx="94183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reviews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1847088"/>
            <a:ext cx="160020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1344" y="1888236"/>
            <a:ext cx="1600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return_requests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286000"/>
            <a:ext cx="1078992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083" y="2286000"/>
            <a:ext cx="4510216" cy="363931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3232" y="5998464"/>
            <a:ext cx="1078992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ER-диаграмма базы данных IMKStore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Архитектура и структура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05840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Проект построен по MVC: данные, логика и отображение разделены по назначению.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74519"/>
            <a:ext cx="347472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2011679"/>
            <a:ext cx="64008" cy="603503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" y="2039112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441448"/>
            <a:ext cx="30358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модели Peewee и таблицы БД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89504"/>
            <a:ext cx="347472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77240" y="3026664"/>
            <a:ext cx="64008" cy="603503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054096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56432"/>
            <a:ext cx="30358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маршруты Flask, проверки, бизнес-логика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04487"/>
            <a:ext cx="347472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" y="4041648"/>
            <a:ext cx="64008" cy="603503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069079"/>
            <a:ext cx="30358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" y="4471416"/>
            <a:ext cx="3035808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4748B"/>
                </a:solidFill>
                <a:latin typeface="Arial"/>
              </a:rPr>
              <a:t>HTML/Jinja2-шаблоны и CSS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30368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5271516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models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5230368"/>
            <a:ext cx="105156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45336" y="5271516"/>
            <a:ext cx="1051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controllers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06624" y="5230368"/>
            <a:ext cx="105156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06624" y="5271516"/>
            <a:ext cx="10515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templates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67912" y="5230368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67912" y="5271516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static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5230368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5271516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utils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41848" y="5230368"/>
            <a:ext cx="777240" cy="31089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41848" y="5271516"/>
            <a:ext cx="7772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0F172A"/>
                </a:solidFill>
                <a:latin typeface="Arial"/>
              </a:rPr>
              <a:t>app.py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8" y="1783080"/>
            <a:ext cx="7040880" cy="44074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93" y="1783080"/>
            <a:ext cx="5052108" cy="44074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407408" y="6263640"/>
            <a:ext cx="70408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Упрощённая диаграмма классов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Реализация функционала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33272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Основной сценарий пользователя проходит через несколько связанных модулей.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965960"/>
            <a:ext cx="1975104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2130552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Просмотр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32888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F172A"/>
                </a:solidFill>
                <a:latin typeface="Arial"/>
              </a:rPr>
              <a:t>каталог
карточка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50008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35224" y="1965960"/>
            <a:ext cx="1975104" cy="11155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9816" y="2130552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40AF"/>
                </a:solidFill>
                <a:latin typeface="Arial"/>
              </a:rPr>
              <a:t>Покупка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9816" y="2532888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F172A"/>
                </a:solidFill>
                <a:latin typeface="Arial"/>
              </a:rPr>
              <a:t>корзина
«Купить сейчас»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2350008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965960"/>
            <a:ext cx="1975104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21808" y="2130552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Заказ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532888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F172A"/>
                </a:solidFill>
                <a:latin typeface="Arial"/>
              </a:rPr>
              <a:t>списание
остаток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2350008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79208" y="1965960"/>
            <a:ext cx="1975104" cy="1115568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800" y="2130552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E40AF"/>
                </a:solidFill>
                <a:latin typeface="Arial"/>
              </a:rPr>
              <a:t>Получение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2532888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F172A"/>
                </a:solidFill>
                <a:latin typeface="Arial"/>
              </a:rPr>
              <a:t>статус
READY / RECEIVED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350008"/>
            <a:ext cx="1645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1965960"/>
            <a:ext cx="1975104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2130552"/>
            <a:ext cx="164592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F172A"/>
                </a:solidFill>
                <a:latin typeface="Arial"/>
              </a:rPr>
              <a:t>После заказа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532888"/>
            <a:ext cx="164592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0F172A"/>
                </a:solidFill>
                <a:latin typeface="Arial"/>
              </a:rPr>
              <a:t>отзыв
возврат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370332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6112" y="3986783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388620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Авторизация и роли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9584" y="370332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712464" y="3986783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13632" y="388620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Каталог и фото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370332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528816" y="3986783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29984" y="388620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Корзина и заказ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62288" y="370332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345167" y="3986783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46336" y="388620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Быстрая покупка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3232" y="457200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96112" y="48554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97280" y="475488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Статусы заказа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29584" y="457200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712464" y="48554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13632" y="475488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Отзывы с фото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45936" y="457200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6528816" y="48554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29984" y="475488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Возвраты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62288" y="4572000"/>
            <a:ext cx="26517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345167" y="4855464"/>
            <a:ext cx="100584" cy="10058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546336" y="4754880"/>
            <a:ext cx="2148839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0F172A"/>
                </a:solidFill>
                <a:latin typeface="Arial"/>
              </a:rPr>
              <a:t>Админ-панель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Интерфейс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Макеты показывают расположение ключевых экранов: витрины, корзины, кабинета продавца и админ-панели.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19379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06" y="1874519"/>
            <a:ext cx="2718714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3575304"/>
            <a:ext cx="5193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Главная страница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519379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018" y="1874519"/>
            <a:ext cx="2718714" cy="16276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3575304"/>
            <a:ext cx="5193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Корзина / заказ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160520"/>
            <a:ext cx="519379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ell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906" y="4160520"/>
            <a:ext cx="2718714" cy="1627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8368" y="5861304"/>
            <a:ext cx="5193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Кабинет продавца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160520"/>
            <a:ext cx="5193792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4018" y="4160520"/>
            <a:ext cx="2718714" cy="16276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26480" y="5861304"/>
            <a:ext cx="5193792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64748B"/>
                </a:solidFill>
                <a:latin typeface="Arial"/>
              </a:rPr>
              <a:t>Панель администратора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1033271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1033271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Глава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Тестирование и исправление ошибок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6070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64748B"/>
                </a:solidFill>
                <a:latin typeface="Arial"/>
              </a:rPr>
              <a:t>Функциональные сценарии проверяли согласованность интерфейса, контроллеров, ролей и базы данных.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993392"/>
            <a:ext cx="4389120" cy="411480"/>
          </a:xfrm>
          <a:prstGeom prst="rect">
            <a:avLst/>
          </a:prstGeom>
          <a:solidFill>
            <a:srgbClr val="0F172A"/>
          </a:solidFill>
          <a:ln w="762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75688"/>
            <a:ext cx="438912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Сценарий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8928" y="1993392"/>
            <a:ext cx="4389120" cy="411480"/>
          </a:xfrm>
          <a:prstGeom prst="rect">
            <a:avLst/>
          </a:prstGeom>
          <a:solidFill>
            <a:srgbClr val="0F172A"/>
          </a:solidFill>
          <a:ln w="762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38928" y="2075688"/>
            <a:ext cx="438912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Ожидаемый результат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64624" y="1993392"/>
            <a:ext cx="1508760" cy="411480"/>
          </a:xfrm>
          <a:prstGeom prst="rect">
            <a:avLst/>
          </a:prstGeom>
          <a:solidFill>
            <a:srgbClr val="0F172A"/>
          </a:solidFill>
          <a:ln w="762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64624" y="2075688"/>
            <a:ext cx="1508760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Arial"/>
              </a:rPr>
              <a:t>Факт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459736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2542032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Гость нажимает «В корзину»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8928" y="2459736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542032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редирект на страницу входа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64624" y="2459736"/>
            <a:ext cx="1508760" cy="603504"/>
          </a:xfrm>
          <a:prstGeom prst="rect">
            <a:avLst/>
          </a:prstGeom>
          <a:solidFill>
            <a:srgbClr val="CCFBF1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64624" y="2542032"/>
            <a:ext cx="150876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0D9488"/>
                </a:solidFill>
                <a:latin typeface="Arial"/>
              </a:rPr>
              <a:t>соответствует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118104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3200400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Покупатель оформляет «Купить сейчас»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38928" y="3118104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0" y="3200400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создаётся заказ, списывается баланс, уменьшается склад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3118104"/>
            <a:ext cx="1508760" cy="603504"/>
          </a:xfrm>
          <a:prstGeom prst="rect">
            <a:avLst/>
          </a:prstGeom>
          <a:solidFill>
            <a:srgbClr val="CCFBF1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64624" y="3200400"/>
            <a:ext cx="150876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0D9488"/>
                </a:solidFill>
                <a:latin typeface="Arial"/>
              </a:rPr>
              <a:t>соответствует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776472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3858768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Подтверждение получения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8" y="3776472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3858768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статус RECEIVED, доступны отзыв и возврат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64624" y="3776472"/>
            <a:ext cx="1508760" cy="603504"/>
          </a:xfrm>
          <a:prstGeom prst="rect">
            <a:avLst/>
          </a:prstGeom>
          <a:solidFill>
            <a:srgbClr val="CCFBF1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64624" y="3858768"/>
            <a:ext cx="150876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0D9488"/>
                </a:solidFill>
                <a:latin typeface="Arial"/>
              </a:rPr>
              <a:t>соответствует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4434840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" y="4517136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Доступ в админ-панель без роли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38928" y="4434840"/>
            <a:ext cx="438912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2080" y="4517136"/>
            <a:ext cx="4242816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0F172A"/>
                </a:solidFill>
                <a:latin typeface="Arial"/>
              </a:rPr>
              <a:t>запрет доступа / редирект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64624" y="4434840"/>
            <a:ext cx="1508760" cy="603504"/>
          </a:xfrm>
          <a:prstGeom prst="rect">
            <a:avLst/>
          </a:prstGeom>
          <a:solidFill>
            <a:srgbClr val="CCFBF1"/>
          </a:solidFill>
          <a:ln w="762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64624" y="4517136"/>
            <a:ext cx="150876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0D9488"/>
                </a:solidFill>
                <a:latin typeface="Arial"/>
              </a:rPr>
              <a:t>соответствует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5266944"/>
            <a:ext cx="10378440" cy="804672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7824" y="5431536"/>
            <a:ext cx="10049256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E40AF"/>
                </a:solidFill>
                <a:latin typeface="Arial"/>
              </a:rPr>
              <a:t>Исправлено в ходе разработки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" y="5833872"/>
            <a:ext cx="1004925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0F172A"/>
                </a:solidFill>
                <a:latin typeface="Arial"/>
              </a:rPr>
              <a:t>особенности MariaDB с LIMIT в подзапросе; импорт prefetch в ORM; защита от дублирования демо-данных.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1109960" y="-411480"/>
            <a:ext cx="1417320" cy="14173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73152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33756"/>
            <a:ext cx="731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8778240" cy="4572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Arial"/>
              </a:rPr>
              <a:t>Заключение: результаты работы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355080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5508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64748B"/>
                </a:solidFill>
                <a:latin typeface="Arial"/>
              </a:rPr>
              <a:t>IMKStore / ВКР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424160" cy="27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dirty="0" err="1">
                <a:solidFill>
                  <a:srgbClr val="64748B"/>
                </a:solidFill>
                <a:latin typeface="Arial"/>
              </a:rPr>
              <a:t>Цель</a:t>
            </a:r>
            <a:r>
              <a:rPr sz="16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Arial"/>
              </a:rPr>
              <a:t>работы</a:t>
            </a:r>
            <a:r>
              <a:rPr sz="16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Arial"/>
              </a:rPr>
              <a:t>достигнута</a:t>
            </a:r>
            <a:r>
              <a:rPr sz="1600" b="0" dirty="0">
                <a:solidFill>
                  <a:srgbClr val="64748B"/>
                </a:solidFill>
                <a:latin typeface="Arial"/>
              </a:rPr>
              <a:t>: </a:t>
            </a:r>
            <a:r>
              <a:rPr sz="1600" b="0" dirty="0" err="1">
                <a:solidFill>
                  <a:srgbClr val="64748B"/>
                </a:solidFill>
                <a:latin typeface="Arial"/>
              </a:rPr>
              <a:t>создан</a:t>
            </a:r>
            <a:r>
              <a:rPr lang="ru-RU" sz="1600" b="0" dirty="0">
                <a:solidFill>
                  <a:srgbClr val="64748B"/>
                </a:solidFill>
                <a:latin typeface="Arial"/>
              </a:rPr>
              <a:t>а информационная система</a:t>
            </a:r>
            <a:r>
              <a:rPr sz="1600" b="0" dirty="0">
                <a:solidFill>
                  <a:srgbClr val="64748B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64748B"/>
                </a:solidFill>
                <a:latin typeface="Arial"/>
              </a:rPr>
              <a:t>интернет-магазина</a:t>
            </a:r>
            <a:r>
              <a:rPr sz="1600" b="0" dirty="0">
                <a:solidFill>
                  <a:srgbClr val="64748B"/>
                </a:solidFill>
                <a:latin typeface="Arial"/>
              </a:rPr>
              <a:t> IMKStore.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20240"/>
            <a:ext cx="3310128" cy="3246120"/>
          </a:xfrm>
          <a:prstGeom prst="roundRect">
            <a:avLst/>
          </a:prstGeom>
          <a:solidFill>
            <a:srgbClr val="DBEAFE"/>
          </a:solidFill>
          <a:ln w="1016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2084832"/>
            <a:ext cx="298094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1E40AF"/>
                </a:solidFill>
                <a:latin typeface="Arial"/>
              </a:rPr>
              <a:t>Цель достигнута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87168"/>
            <a:ext cx="2980944" cy="2587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0F172A"/>
                </a:solidFill>
                <a:latin typeface="Arial"/>
              </a:rPr>
              <a:t>разработана информационная система на Flask и Peewee с сетевой базой данных MySQL.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20240"/>
            <a:ext cx="32461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16552" y="2057400"/>
            <a:ext cx="64008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2084832"/>
            <a:ext cx="28072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Бизнес-процессы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487168"/>
            <a:ext cx="2807208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каталог, карточка товара, корзина, покупка, заказ, получение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920240"/>
            <a:ext cx="32461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74152" y="2057400"/>
            <a:ext cx="64008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66175" y="2084832"/>
            <a:ext cx="28072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Пользовательские роли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487168"/>
            <a:ext cx="2807208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покупатель, продавец, администратор и гость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94760"/>
            <a:ext cx="32461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16552" y="3931920"/>
            <a:ext cx="64008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08576" y="3959352"/>
            <a:ext cx="28072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Проектирование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361688"/>
            <a:ext cx="2807208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UML-диаграммы, ER-модель и структура БД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3794760"/>
            <a:ext cx="324612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074152" y="3931920"/>
            <a:ext cx="64008" cy="10972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66175" y="3959352"/>
            <a:ext cx="280720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F172A"/>
                </a:solidFill>
                <a:latin typeface="Arial"/>
              </a:rPr>
              <a:t>Проверка результата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4361688"/>
            <a:ext cx="2807208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64748B"/>
                </a:solidFill>
                <a:latin typeface="Arial"/>
              </a:rPr>
              <a:t>тестовые сценарии подтвердили ожидаемую работу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384048"/>
            <a:ext cx="731520" cy="31089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425196"/>
            <a:ext cx="731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E40AF"/>
                </a:solidFill>
                <a:latin typeface="Arial"/>
              </a:rPr>
              <a:t>Итоги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978408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0F172A"/>
                </a:solidFill>
                <a:latin typeface="Arial"/>
              </a:rPr>
              <a:t>Заключение: практическая значимость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10058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5257800" cy="1874519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965960"/>
            <a:ext cx="64008" cy="16001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93392"/>
            <a:ext cx="481888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172A"/>
                </a:solidFill>
                <a:latin typeface="Arial"/>
              </a:rPr>
              <a:t>Практическая значимость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395728"/>
            <a:ext cx="4818888" cy="12161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IMKStore можно использовать как учебный стенд для демонстрации MVC, ORM, MySQL, ролей доступа и полного цикла веб-разработки.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828800"/>
            <a:ext cx="5257800" cy="1874519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64008" cy="16001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47104" y="1993392"/>
            <a:ext cx="4818888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172A"/>
                </a:solidFill>
                <a:latin typeface="Arial"/>
              </a:rPr>
              <a:t>Перспективы развития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395728"/>
            <a:ext cx="4818888" cy="121615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64748B"/>
                </a:solidFill>
                <a:latin typeface="Arial"/>
              </a:rPr>
              <a:t>миграции БД, фоновые задачи, реальная платёжная система, облачное хранение файлов и расширенная доставка.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21808"/>
            <a:ext cx="850392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6016752"/>
            <a:ext cx="777240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IMKStore — учебный прототип информационной системы интернет-магазина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199632"/>
            <a:ext cx="5029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CBD5E1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1010</Words>
  <Application>Microsoft Office PowerPoint</Application>
  <PresentationFormat>Широкоэкранный</PresentationFormat>
  <Paragraphs>257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Облоко Облачко</cp:lastModifiedBy>
  <cp:revision>3</cp:revision>
  <dcterms:created xsi:type="dcterms:W3CDTF">2013-01-27T09:14:16Z</dcterms:created>
  <dcterms:modified xsi:type="dcterms:W3CDTF">2026-06-23T05:12:08Z</dcterms:modified>
  <cp:category/>
</cp:coreProperties>
</file>